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468" r:id="rId2"/>
    <p:sldId id="503" r:id="rId3"/>
    <p:sldId id="499" r:id="rId4"/>
    <p:sldId id="504" r:id="rId5"/>
    <p:sldId id="502" r:id="rId6"/>
    <p:sldId id="501" r:id="rId7"/>
    <p:sldId id="508" r:id="rId8"/>
    <p:sldId id="509" r:id="rId9"/>
    <p:sldId id="510" r:id="rId10"/>
    <p:sldId id="511" r:id="rId11"/>
    <p:sldId id="512" r:id="rId12"/>
    <p:sldId id="513" r:id="rId13"/>
    <p:sldId id="514" r:id="rId14"/>
    <p:sldId id="505" r:id="rId15"/>
    <p:sldId id="264" r:id="rId16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766363"/>
    <a:srgbClr val="FFF5EA"/>
    <a:srgbClr val="00324D"/>
    <a:srgbClr val="FF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04"/>
    <p:restoredTop sz="86369"/>
  </p:normalViewPr>
  <p:slideViewPr>
    <p:cSldViewPr snapToGrid="0">
      <p:cViewPr varScale="1">
        <p:scale>
          <a:sx n="63" d="100"/>
          <a:sy n="63" d="100"/>
        </p:scale>
        <p:origin x="924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789272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6C58E-460D-4A4B-B0C2-1191B9D14FCB}" type="slidenum">
              <a:rPr lang="es-CO" smtClean="0"/>
              <a:t>14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58274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B25968F-984F-8BF4-4FF0-2432A9923EB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027833" y="317431"/>
            <a:ext cx="811391" cy="79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8285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 descr="Patrón de fondo&#10;&#10;Descripción generada automáticamente">
            <a:extLst>
              <a:ext uri="{FF2B5EF4-FFF2-40B4-BE49-F238E27FC236}">
                <a16:creationId xmlns:a16="http://schemas.microsoft.com/office/drawing/2014/main" id="{EDE1298D-A4F7-F1E4-F1B3-3D2F5117E04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69B39820-C822-5D71-439D-76D8E95C16E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054859" y="303050"/>
            <a:ext cx="855785" cy="833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3603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DFF890D-F3AC-9928-32A3-F179DB21A0E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469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18/10/2026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2" r:id="rId11"/>
    <p:sldLayoutId id="2147483659" r:id="rId12"/>
    <p:sldLayoutId id="2147483663" r:id="rId13"/>
    <p:sldLayoutId id="2147483675" r:id="rId14"/>
    <p:sldLayoutId id="214748367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/>
          <p:cNvSpPr txBox="1"/>
          <p:nvPr/>
        </p:nvSpPr>
        <p:spPr>
          <a:xfrm>
            <a:off x="995422" y="2551837"/>
            <a:ext cx="6453678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Nombre</a:t>
            </a:r>
          </a:p>
          <a:p>
            <a:r>
              <a:rPr lang="es-ES" sz="5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Work Sans" pitchFamily="2" charset="77"/>
              </a:rPr>
              <a:t>Del Proyecto</a:t>
            </a:r>
            <a:endParaRPr lang="es-ES" sz="4000" b="1" dirty="0">
              <a:solidFill>
                <a:schemeClr val="tx1">
                  <a:lumMod val="75000"/>
                  <a:lumOff val="25000"/>
                </a:schemeClr>
              </a:solidFill>
              <a:latin typeface="Work Sans" pitchFamily="2" charset="77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BDEB08-DE5A-B0C2-B0FE-954002411545}"/>
              </a:ext>
            </a:extLst>
          </p:cNvPr>
          <p:cNvSpPr txBox="1">
            <a:spLocks/>
          </p:cNvSpPr>
          <p:nvPr/>
        </p:nvSpPr>
        <p:spPr>
          <a:xfrm>
            <a:off x="6498769" y="2761818"/>
            <a:ext cx="2001545" cy="13343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Sistema</a:t>
            </a:r>
            <a:endParaRPr lang="es-CO" sz="1600" dirty="0">
              <a:latin typeface="Work Sans Light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3C65CF2-4CAC-4B81-D093-E60894228000}"/>
              </a:ext>
            </a:extLst>
          </p:cNvPr>
          <p:cNvSpPr txBox="1">
            <a:spLocks/>
          </p:cNvSpPr>
          <p:nvPr/>
        </p:nvSpPr>
        <p:spPr>
          <a:xfrm>
            <a:off x="8500314" y="2761818"/>
            <a:ext cx="2001545" cy="13343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Empresa</a:t>
            </a:r>
          </a:p>
        </p:txBody>
      </p:sp>
    </p:spTree>
    <p:extLst>
      <p:ext uri="{BB962C8B-B14F-4D97-AF65-F5344CB8AC3E}">
        <p14:creationId xmlns:p14="http://schemas.microsoft.com/office/powerpoint/2010/main" val="3079616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B78A6207-2D79-A9F8-E09D-30C60C0067DF}"/>
              </a:ext>
            </a:extLst>
          </p:cNvPr>
          <p:cNvSpPr txBox="1"/>
          <p:nvPr/>
        </p:nvSpPr>
        <p:spPr>
          <a:xfrm>
            <a:off x="3252112" y="675443"/>
            <a:ext cx="568777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CO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Nombre</a:t>
            </a:r>
          </a:p>
          <a:p>
            <a:pPr algn="ctr"/>
            <a:r>
              <a:rPr lang="es-CO" sz="72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Del Proyecto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7093B0CC-07FB-12E7-E7C8-581324B7AF33}"/>
              </a:ext>
            </a:extLst>
          </p:cNvPr>
          <p:cNvCxnSpPr>
            <a:cxnSpLocks/>
          </p:cNvCxnSpPr>
          <p:nvPr/>
        </p:nvCxnSpPr>
        <p:spPr>
          <a:xfrm>
            <a:off x="5227899" y="3321934"/>
            <a:ext cx="1736203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9FA07BD2-A8DB-FF10-1E30-572887632351}"/>
              </a:ext>
            </a:extLst>
          </p:cNvPr>
          <p:cNvSpPr txBox="1"/>
          <p:nvPr/>
        </p:nvSpPr>
        <p:spPr>
          <a:xfrm>
            <a:off x="4168816" y="3463724"/>
            <a:ext cx="38543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Apellidos Nombres</a:t>
            </a:r>
          </a:p>
          <a:p>
            <a:pPr algn="ctr"/>
            <a:r>
              <a:rPr lang="es-E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Apellidos Nombres</a:t>
            </a:r>
          </a:p>
          <a:p>
            <a:pPr algn="ctr"/>
            <a:r>
              <a:rPr lang="es-E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Apellidos Nombres</a:t>
            </a:r>
            <a:endParaRPr lang="es-CO" sz="1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 pitchFamily="2" charset="77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F385990-7F30-A8ED-0FEA-F8EAC01BD49D}"/>
              </a:ext>
            </a:extLst>
          </p:cNvPr>
          <p:cNvSpPr txBox="1"/>
          <p:nvPr/>
        </p:nvSpPr>
        <p:spPr>
          <a:xfrm>
            <a:off x="1068888" y="5279998"/>
            <a:ext cx="1005422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Servicio Nacional de Aprendizaje –SENA, Centro de Electricidad Electrónica y Telecomunicaciones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Técnico en Programación de Software - TPS, Primer Trimestre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Instructor Albeiro Ramos</a:t>
            </a:r>
          </a:p>
          <a:p>
            <a:pPr algn="ctr"/>
            <a:r>
              <a:rPr lang="es-ES" sz="1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Work Sans Light" pitchFamily="2" charset="77"/>
              </a:rPr>
              <a:t>Bogotá, 25 de marzo de 2023</a:t>
            </a:r>
            <a:endParaRPr lang="es-CO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Work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207879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A97DC05-4A6B-3E0B-D2C7-E6FB8FE7B9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9" y="-68162"/>
            <a:ext cx="10491486" cy="699432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1157468" y="2685327"/>
            <a:ext cx="2939970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1182520" y="2393549"/>
            <a:ext cx="351474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600" dirty="0">
                <a:solidFill>
                  <a:srgbClr val="38AA00"/>
                </a:solidFill>
                <a:latin typeface="Work Sans Light" pitchFamily="2" charset="77"/>
              </a:rPr>
              <a:t>Introducción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1145896" y="3275635"/>
            <a:ext cx="38543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dirty="0">
                <a:latin typeface="Work Sans Light" pitchFamily="2" charset="77"/>
              </a:rPr>
              <a:t>Breve párrafo Introductorio sobre el contexto: sector, organización, producto, servicio, etc.</a:t>
            </a:r>
          </a:p>
          <a:p>
            <a:endParaRPr lang="es-ES" sz="1600" dirty="0">
              <a:latin typeface="Work Sans Light" pitchFamily="2" charset="77"/>
            </a:endParaRPr>
          </a:p>
          <a:p>
            <a:r>
              <a:rPr lang="es-ES" sz="1600" dirty="0">
                <a:latin typeface="Work Sans Light" pitchFamily="2" charset="77"/>
              </a:rPr>
              <a:t>Descripción de la Presentación, es decir, problema, Objetivos, Justificación, alcance y delimitación.</a:t>
            </a:r>
            <a:endParaRPr lang="es-CO" sz="1600" dirty="0">
              <a:latin typeface="Work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6853874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62CAF686-2B1F-2A4A-A0F2-CAE3CF59E65B}"/>
              </a:ext>
            </a:extLst>
          </p:cNvPr>
          <p:cNvSpPr txBox="1">
            <a:spLocks/>
          </p:cNvSpPr>
          <p:nvPr/>
        </p:nvSpPr>
        <p:spPr>
          <a:xfrm>
            <a:off x="456236" y="416689"/>
            <a:ext cx="10515600" cy="74156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Nombre del Proyecto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72D24723-360A-B357-B421-17CF33D4C0B4}"/>
              </a:ext>
            </a:extLst>
          </p:cNvPr>
          <p:cNvSpPr txBox="1">
            <a:spLocks/>
          </p:cNvSpPr>
          <p:nvPr/>
        </p:nvSpPr>
        <p:spPr>
          <a:xfrm>
            <a:off x="1263775" y="3237807"/>
            <a:ext cx="2001545" cy="13343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Sistema</a:t>
            </a:r>
            <a:endParaRPr lang="es-CO" sz="1600" dirty="0">
              <a:latin typeface="Work Sans Light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6CD37F32-D413-C0B0-1883-F0E6FE54B3BB}"/>
              </a:ext>
            </a:extLst>
          </p:cNvPr>
          <p:cNvSpPr txBox="1">
            <a:spLocks/>
          </p:cNvSpPr>
          <p:nvPr/>
        </p:nvSpPr>
        <p:spPr>
          <a:xfrm>
            <a:off x="3265320" y="3237807"/>
            <a:ext cx="2001545" cy="13343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Empresa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779D7A8-BEDD-C9DB-4CEE-7225220AFBCD}"/>
              </a:ext>
            </a:extLst>
          </p:cNvPr>
          <p:cNvSpPr txBox="1"/>
          <p:nvPr/>
        </p:nvSpPr>
        <p:spPr>
          <a:xfrm>
            <a:off x="6653014" y="2489547"/>
            <a:ext cx="454733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3200" b="1" dirty="0">
                <a:latin typeface="Work Sans Light" pitchFamily="2" charset="77"/>
              </a:rPr>
              <a:t>Problema</a:t>
            </a:r>
          </a:p>
          <a:p>
            <a:r>
              <a:rPr lang="es-CO" sz="3200" b="1" dirty="0">
                <a:latin typeface="Work Sans Light" pitchFamily="2" charset="77"/>
              </a:rPr>
              <a:t>Objetivos</a:t>
            </a:r>
          </a:p>
          <a:p>
            <a:r>
              <a:rPr lang="es-CO" sz="3200" b="1" dirty="0">
                <a:latin typeface="Work Sans Light" pitchFamily="2" charset="77"/>
              </a:rPr>
              <a:t>Justificación</a:t>
            </a:r>
          </a:p>
          <a:p>
            <a:r>
              <a:rPr lang="es-CO" sz="3200" b="1" dirty="0">
                <a:latin typeface="Work Sans Light" pitchFamily="2" charset="77"/>
              </a:rPr>
              <a:t>Alcance</a:t>
            </a:r>
          </a:p>
          <a:p>
            <a:r>
              <a:rPr lang="es-CO" sz="3200" b="1" dirty="0">
                <a:latin typeface="Work Sans Light" pitchFamily="2" charset="77"/>
              </a:rPr>
              <a:t>Delimitación</a:t>
            </a:r>
          </a:p>
          <a:p>
            <a:r>
              <a:rPr lang="es-CO" sz="3200" b="1" dirty="0">
                <a:latin typeface="Work Sans Light" pitchFamily="2" charset="77"/>
              </a:rPr>
              <a:t>Entregables Trimestre</a:t>
            </a:r>
          </a:p>
        </p:txBody>
      </p:sp>
    </p:spTree>
    <p:extLst>
      <p:ext uri="{BB962C8B-B14F-4D97-AF65-F5344CB8AC3E}">
        <p14:creationId xmlns:p14="http://schemas.microsoft.com/office/powerpoint/2010/main" val="27420489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Problema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87FD05-8B8A-E978-366F-97DF799DBA37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Sistema</a:t>
            </a:r>
            <a:endParaRPr lang="es-CO" sz="1600" b="1" dirty="0">
              <a:solidFill>
                <a:schemeClr val="bg1"/>
              </a:solidFill>
              <a:latin typeface="Work Sans Light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C5FDC4-9A2A-F31D-6455-7D47B1B835F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72353" y="1667521"/>
            <a:ext cx="1144729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Párrafo o separación por punto describiendo (máximo 6 líneas por párrafo):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La empresa Rica Fruta ubicada en el municipio de Soacha - se dedica a la elaboración, comercialización y distribución de pulpa a base de frutas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Los Procesos en los que se va a intervenir : Proceso1, Proceso2, Proceso3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El análisis de la información: Utilización de las Técnicas e Instrumentos de recolección de datos: Revisión Documental (Análisis de datos). Entrevista (Entrevista). Encuesta (Cuestionario). Observación Directa (Diario de Campo). A quiénes: Cargo-Funciones.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Las necesidades encontradas: Proceso1 (Descripción del proceso y necesidades encontradas). Proceso2 (Descripción del proceso y necesidades encontradas). Proceso3 (Descripción del proceso y necesidades encontradas).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b="1" dirty="0">
                <a:latin typeface="Work Sans Light" pitchFamily="2" charset="77"/>
              </a:rPr>
              <a:t>NOTA</a:t>
            </a:r>
            <a:r>
              <a:rPr lang="es-MX" sz="1600" dirty="0">
                <a:latin typeface="Work Sans Light" pitchFamily="2" charset="77"/>
              </a:rPr>
              <a:t>: No se usan viñetas o numeración, a menos que sea para contar o describir una serie de pasos. Se pueden utilizar imágenes de apoyo.</a:t>
            </a:r>
          </a:p>
        </p:txBody>
      </p:sp>
    </p:spTree>
    <p:extLst>
      <p:ext uri="{BB962C8B-B14F-4D97-AF65-F5344CB8AC3E}">
        <p14:creationId xmlns:p14="http://schemas.microsoft.com/office/powerpoint/2010/main" val="28748887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67CBC-1536-A090-A5B5-FE205F3AF4AD}"/>
              </a:ext>
            </a:extLst>
          </p:cNvPr>
          <p:cNvSpPr txBox="1">
            <a:spLocks/>
          </p:cNvSpPr>
          <p:nvPr/>
        </p:nvSpPr>
        <p:spPr>
          <a:xfrm>
            <a:off x="456236" y="457723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rPr>
              <a:t>Problema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F9C203C-8702-185A-A81A-1392C612CF72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Sistema</a:t>
            </a:r>
            <a:endParaRPr lang="es-CO" sz="1600" dirty="0">
              <a:latin typeface="Work Sans Light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398273-E570-FD0C-5679-CE05DCAEEED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636D40-6663-725B-8E0D-34BDB07692AF}"/>
              </a:ext>
            </a:extLst>
          </p:cNvPr>
          <p:cNvSpPr txBox="1"/>
          <p:nvPr/>
        </p:nvSpPr>
        <p:spPr>
          <a:xfrm>
            <a:off x="372353" y="1667521"/>
            <a:ext cx="11447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Work Sans Light" pitchFamily="2" charset="77"/>
              </a:rPr>
              <a:t>“Si se requiere esta diapositiva, de lo contrario eliminarla”</a:t>
            </a:r>
          </a:p>
        </p:txBody>
      </p:sp>
    </p:spTree>
    <p:extLst>
      <p:ext uri="{BB962C8B-B14F-4D97-AF65-F5344CB8AC3E}">
        <p14:creationId xmlns:p14="http://schemas.microsoft.com/office/powerpoint/2010/main" val="1500403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B65FDE73-C641-1100-C209-6B5902DCC3EC}"/>
              </a:ext>
            </a:extLst>
          </p:cNvPr>
          <p:cNvSpPr/>
          <p:nvPr/>
        </p:nvSpPr>
        <p:spPr>
          <a:xfrm>
            <a:off x="1314043" y="593940"/>
            <a:ext cx="3527266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EE37A3CD-1BAC-6175-4755-9AC66A46B6FF}"/>
              </a:ext>
            </a:extLst>
          </p:cNvPr>
          <p:cNvSpPr txBox="1">
            <a:spLocks/>
          </p:cNvSpPr>
          <p:nvPr/>
        </p:nvSpPr>
        <p:spPr>
          <a:xfrm>
            <a:off x="1039184" y="310961"/>
            <a:ext cx="4076985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Objetivo General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BAA83CA-F5E1-3945-40AB-1CB1B233A0BF}"/>
              </a:ext>
            </a:extLst>
          </p:cNvPr>
          <p:cNvSpPr txBox="1"/>
          <p:nvPr/>
        </p:nvSpPr>
        <p:spPr>
          <a:xfrm>
            <a:off x="556218" y="1286827"/>
            <a:ext cx="50429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Work Sans Light" pitchFamily="2" charset="77"/>
              </a:rPr>
              <a:t>Desarrollar un Sistema de Información Web [Nombre del Sistema] para el [seguimiento, apoyo, etc.] a los [procesos] de la Empresa [Nombre de la Empresa].</a:t>
            </a:r>
            <a:endParaRPr lang="es-CO" sz="1600" dirty="0">
              <a:latin typeface="Work Sans Light" pitchFamily="2" charset="77"/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E7F90470-2942-22C6-7A33-F7E8E2D7CD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599" y="-68162"/>
            <a:ext cx="10491486" cy="6994324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F5CB49A8-7161-5037-729C-90C8765D1574}"/>
              </a:ext>
            </a:extLst>
          </p:cNvPr>
          <p:cNvSpPr/>
          <p:nvPr/>
        </p:nvSpPr>
        <p:spPr>
          <a:xfrm>
            <a:off x="484946" y="3146130"/>
            <a:ext cx="4166093" cy="34724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802FD35A-EA47-F375-CD6A-B61F8B61B3AD}"/>
              </a:ext>
            </a:extLst>
          </p:cNvPr>
          <p:cNvSpPr txBox="1">
            <a:spLocks/>
          </p:cNvSpPr>
          <p:nvPr/>
        </p:nvSpPr>
        <p:spPr>
          <a:xfrm>
            <a:off x="574055" y="2888203"/>
            <a:ext cx="4076985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sz="3200" dirty="0">
                <a:solidFill>
                  <a:srgbClr val="38AA00"/>
                </a:solidFill>
                <a:latin typeface="Work Sans Light" pitchFamily="2" charset="77"/>
              </a:rPr>
              <a:t>Objetivo Específicos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C78F7BD-2A34-855F-15C3-306C2603A128}"/>
              </a:ext>
            </a:extLst>
          </p:cNvPr>
          <p:cNvSpPr txBox="1"/>
          <p:nvPr/>
        </p:nvSpPr>
        <p:spPr>
          <a:xfrm>
            <a:off x="764324" y="3660486"/>
            <a:ext cx="483481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Gestionar los Usuarios de la Empresa [Nombre de la Empresa].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Gestionar [ModProceso1] de la Empresa [Nombre de la Empresa].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Gestionar [ModProceso2] de la Empresa [Nombre de la Empresa].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Gestionar [ModProceso3] de la Empresa [Nombre de la Empresa].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Gestionar los reportes gráficos e impresos de la Empresa [Nombre de la Empresa].</a:t>
            </a:r>
          </a:p>
        </p:txBody>
      </p:sp>
    </p:spTree>
    <p:extLst>
      <p:ext uri="{BB962C8B-B14F-4D97-AF65-F5344CB8AC3E}">
        <p14:creationId xmlns:p14="http://schemas.microsoft.com/office/powerpoint/2010/main" val="5912055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Justificación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87FD05-8B8A-E978-366F-97DF799DBA37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Sistema</a:t>
            </a:r>
            <a:endParaRPr lang="es-CO" sz="1600" b="1" dirty="0">
              <a:solidFill>
                <a:schemeClr val="bg1"/>
              </a:solidFill>
              <a:latin typeface="Work Sans Light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C5FDC4-9A2A-F31D-6455-7D47B1B835F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72353" y="1667521"/>
            <a:ext cx="11447293" cy="4770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Work Sans Light" pitchFamily="2" charset="77"/>
              </a:rPr>
              <a:t>Párrafo o separación por punto describiendo (máximo 6 líneas por párrafo):</a:t>
            </a:r>
          </a:p>
          <a:p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La solución: Se propone el desarrollo de un Sistema de Información Web denominado [Nombre del Sistema] que sirva como herramienta software de apoyo al seguimiento del/los [Nombre Proceso(s)] de la Empresa [Nombre Empresa].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La importancia del Sistema: Permitirá la gestión de los [nombre Perfiles] como usuarios de la Empresa [Nombre Empresa] [más Información]. En [ModProceso1] los [Perfiles Usuario] podrán [acciones del Sistema (beneficios comparados con las necesidades encontradas)]. En [ModProceso2] los [Perfiles Usuario] podrán [acciones del Sistema (beneficios comparados con las necesidades encontradas)]. Finalmente, facilitará la gestión de reportes gráficos e impresos, necesarios para la toma de decisiones del personal administrativo de la Empresa [Nombre Empresa].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El aporte al Sector: El Sistema [Nombre Empresa] servirá como aporte al sector [Sector], como [importancia para el Sector].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b="1" dirty="0">
                <a:latin typeface="Work Sans Light" pitchFamily="2" charset="77"/>
              </a:rPr>
              <a:t>NOTA</a:t>
            </a:r>
            <a:r>
              <a:rPr lang="es-MX" sz="1600" dirty="0">
                <a:latin typeface="Work Sans Light" pitchFamily="2" charset="77"/>
              </a:rPr>
              <a:t>: No se usan viñetas o numeración, a menos que sea para contar o describir una serie de pasos. Se pueden utilizar imágenes de apoyo.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b="1" dirty="0">
              <a:latin typeface="Work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012548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67CBC-1536-A090-A5B5-FE205F3AF4AD}"/>
              </a:ext>
            </a:extLst>
          </p:cNvPr>
          <p:cNvSpPr txBox="1">
            <a:spLocks/>
          </p:cNvSpPr>
          <p:nvPr/>
        </p:nvSpPr>
        <p:spPr>
          <a:xfrm>
            <a:off x="456236" y="457723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rPr>
              <a:t>Justificación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F9C203C-8702-185A-A81A-1392C612CF72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Sistema</a:t>
            </a:r>
            <a:endParaRPr lang="es-CO" sz="1600" dirty="0">
              <a:latin typeface="Work Sans Light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398273-E570-FD0C-5679-CE05DCAEEED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636D40-6663-725B-8E0D-34BDB07692AF}"/>
              </a:ext>
            </a:extLst>
          </p:cNvPr>
          <p:cNvSpPr txBox="1"/>
          <p:nvPr/>
        </p:nvSpPr>
        <p:spPr>
          <a:xfrm>
            <a:off x="372353" y="1667521"/>
            <a:ext cx="11447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Work Sans Light" pitchFamily="2" charset="77"/>
              </a:rPr>
              <a:t>“Si se requiere esta diapositiva, de lo contrario eliminarla”</a:t>
            </a:r>
          </a:p>
        </p:txBody>
      </p:sp>
    </p:spTree>
    <p:extLst>
      <p:ext uri="{BB962C8B-B14F-4D97-AF65-F5344CB8AC3E}">
        <p14:creationId xmlns:p14="http://schemas.microsoft.com/office/powerpoint/2010/main" val="35155936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Alcance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87FD05-8B8A-E978-366F-97DF799DBA37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Sistema</a:t>
            </a:r>
            <a:endParaRPr lang="es-CO" sz="1600" b="1" dirty="0">
              <a:solidFill>
                <a:schemeClr val="bg1"/>
              </a:solidFill>
              <a:latin typeface="Work Sans Light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C5FDC4-9A2A-F31D-6455-7D47B1B835F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72353" y="1667521"/>
            <a:ext cx="11447293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Work Sans Light" pitchFamily="2" charset="77"/>
              </a:rPr>
              <a:t>Párrafo o separación por punto describiendo (máximo 6 líneas por párrafo):</a:t>
            </a:r>
          </a:p>
          <a:p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Qué hace el Sistema: Operaciones que los perfiles pueden hacer (ModProceso1, ModProceso2, ModProceso3)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Qué NO hace el Sistema: Operaciones que NO va hacer el Sistema (ModProceso4, ModProceso5).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Tecnologías: Descripción de tecnologías del proyecto (Arquitectura de software, patrones de diseño, Back-</a:t>
            </a:r>
            <a:r>
              <a:rPr lang="es-MX" sz="1600" dirty="0" err="1">
                <a:latin typeface="Work Sans Light" pitchFamily="2" charset="77"/>
              </a:rPr>
              <a:t>End</a:t>
            </a:r>
            <a:r>
              <a:rPr lang="es-MX" sz="1600" dirty="0">
                <a:latin typeface="Work Sans Light" pitchFamily="2" charset="77"/>
              </a:rPr>
              <a:t>, </a:t>
            </a:r>
            <a:r>
              <a:rPr lang="es-MX" sz="1600" dirty="0" err="1">
                <a:latin typeface="Work Sans Light" pitchFamily="2" charset="77"/>
              </a:rPr>
              <a:t>Frond-End</a:t>
            </a:r>
            <a:r>
              <a:rPr lang="es-MX" sz="1600" dirty="0">
                <a:latin typeface="Work Sans Light" pitchFamily="2" charset="77"/>
              </a:rPr>
              <a:t>, librerías, </a:t>
            </a:r>
            <a:r>
              <a:rPr lang="es-MX" sz="1600" dirty="0" err="1">
                <a:latin typeface="Work Sans Light" pitchFamily="2" charset="77"/>
              </a:rPr>
              <a:t>frameworks</a:t>
            </a:r>
            <a:r>
              <a:rPr lang="es-MX" sz="1600" dirty="0">
                <a:latin typeface="Work Sans Light" pitchFamily="2" charset="77"/>
              </a:rPr>
              <a:t>, entre otros)</a:t>
            </a:r>
          </a:p>
          <a:p>
            <a:endParaRPr lang="es-MX" sz="1600" b="1" dirty="0">
              <a:latin typeface="Work Sans Light" pitchFamily="2" charset="77"/>
            </a:endParaRPr>
          </a:p>
          <a:p>
            <a:endParaRPr lang="es-MX" sz="1600" b="1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b="1" dirty="0">
                <a:latin typeface="Work Sans Light" pitchFamily="2" charset="77"/>
              </a:rPr>
              <a:t>NOTA</a:t>
            </a:r>
            <a:r>
              <a:rPr lang="es-MX" sz="1600" dirty="0">
                <a:latin typeface="Work Sans Light" pitchFamily="2" charset="77"/>
              </a:rPr>
              <a:t>: No se usan viñetas o numeración, a menos que sea para contar o describir una serie de pasos. Se pueden utilizar imágenes de apoyo.</a:t>
            </a:r>
          </a:p>
        </p:txBody>
      </p:sp>
    </p:spTree>
    <p:extLst>
      <p:ext uri="{BB962C8B-B14F-4D97-AF65-F5344CB8AC3E}">
        <p14:creationId xmlns:p14="http://schemas.microsoft.com/office/powerpoint/2010/main" val="3849793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67CBC-1536-A090-A5B5-FE205F3AF4AD}"/>
              </a:ext>
            </a:extLst>
          </p:cNvPr>
          <p:cNvSpPr txBox="1">
            <a:spLocks/>
          </p:cNvSpPr>
          <p:nvPr/>
        </p:nvSpPr>
        <p:spPr>
          <a:xfrm>
            <a:off x="456236" y="457723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rPr>
              <a:t>Alcance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F9C203C-8702-185A-A81A-1392C612CF72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Sistema</a:t>
            </a:r>
            <a:endParaRPr lang="es-CO" sz="1600" dirty="0">
              <a:latin typeface="Work Sans Light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398273-E570-FD0C-5679-CE05DCAEEED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636D40-6663-725B-8E0D-34BDB07692AF}"/>
              </a:ext>
            </a:extLst>
          </p:cNvPr>
          <p:cNvSpPr txBox="1"/>
          <p:nvPr/>
        </p:nvSpPr>
        <p:spPr>
          <a:xfrm>
            <a:off x="372353" y="1667521"/>
            <a:ext cx="11447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Work Sans Light" pitchFamily="2" charset="77"/>
              </a:rPr>
              <a:t>“Si se requiere esta diapositiva, de lo contrario eliminarla”</a:t>
            </a:r>
          </a:p>
        </p:txBody>
      </p:sp>
    </p:spTree>
    <p:extLst>
      <p:ext uri="{BB962C8B-B14F-4D97-AF65-F5344CB8AC3E}">
        <p14:creationId xmlns:p14="http://schemas.microsoft.com/office/powerpoint/2010/main" val="3342347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/>
          <a:lstStyle/>
          <a:p>
            <a:r>
              <a:rPr lang="es-CO" dirty="0">
                <a:solidFill>
                  <a:schemeClr val="bg1"/>
                </a:solidFill>
                <a:latin typeface="Work Sans Medium" pitchFamily="2" charset="77"/>
              </a:rPr>
              <a:t>Delimitación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87FD05-8B8A-E978-366F-97DF799DBA37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Sistema</a:t>
            </a:r>
            <a:endParaRPr lang="es-CO" sz="1600" b="1" dirty="0">
              <a:solidFill>
                <a:schemeClr val="bg1"/>
              </a:solidFill>
              <a:latin typeface="Work Sans Light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C5FDC4-9A2A-F31D-6455-7D47B1B835F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CA39C3C-B25E-C804-C832-61458138A925}"/>
              </a:ext>
            </a:extLst>
          </p:cNvPr>
          <p:cNvSpPr txBox="1"/>
          <p:nvPr/>
        </p:nvSpPr>
        <p:spPr>
          <a:xfrm>
            <a:off x="372353" y="1667521"/>
            <a:ext cx="1144729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600" dirty="0">
                <a:latin typeface="Work Sans Light" pitchFamily="2" charset="77"/>
              </a:rPr>
              <a:t>Párrafo o separación por punto describiendo (máximo 6 líneas por párrafo):</a:t>
            </a:r>
          </a:p>
          <a:p>
            <a:endParaRPr lang="es-MX" sz="1600" dirty="0">
              <a:latin typeface="Work Sans Light" pitchFamily="2" charset="7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600" dirty="0">
                <a:latin typeface="Work Sans Light" pitchFamily="2" charset="77"/>
              </a:rPr>
              <a:t>El cronograma: Hasta dónde va el proyecto en términos de Tiempo, actividades, evidencias, responsables, entre otros (Revisar concepto de Modelo Gantt)</a:t>
            </a:r>
          </a:p>
          <a:p>
            <a:endParaRPr lang="es-MX" sz="1600" dirty="0">
              <a:latin typeface="Work Sans Light" pitchFamily="2" charset="77"/>
            </a:endParaRPr>
          </a:p>
          <a:p>
            <a:r>
              <a:rPr lang="es-MX" sz="1600" b="1" dirty="0">
                <a:latin typeface="Work Sans Light" pitchFamily="2" charset="77"/>
              </a:rPr>
              <a:t>NOTA</a:t>
            </a:r>
            <a:r>
              <a:rPr lang="es-MX" sz="1600" dirty="0">
                <a:latin typeface="Work Sans Light" pitchFamily="2" charset="77"/>
              </a:rPr>
              <a:t>: No se usan viñetas o numeración, a menos que sea para contar o describir una serie de pasos. Se pueden utilizar imágenes de apoyo.</a:t>
            </a:r>
          </a:p>
          <a:p>
            <a:endParaRPr lang="es-MX" sz="1600" dirty="0">
              <a:latin typeface="Work Sans Ligh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83826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F67CBC-1536-A090-A5B5-FE205F3AF4AD}"/>
              </a:ext>
            </a:extLst>
          </p:cNvPr>
          <p:cNvSpPr txBox="1">
            <a:spLocks/>
          </p:cNvSpPr>
          <p:nvPr/>
        </p:nvSpPr>
        <p:spPr>
          <a:xfrm>
            <a:off x="456236" y="457723"/>
            <a:ext cx="10515600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>
                <a:solidFill>
                  <a:schemeClr val="tx1">
                    <a:lumMod val="95000"/>
                    <a:lumOff val="5000"/>
                  </a:schemeClr>
                </a:solidFill>
                <a:latin typeface="Work Sans Medium" pitchFamily="2" charset="77"/>
              </a:rPr>
              <a:t>Delimitación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EF9C203C-8702-185A-A81A-1392C612CF72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Sistema</a:t>
            </a:r>
            <a:endParaRPr lang="es-CO" sz="1600" dirty="0">
              <a:latin typeface="Work Sans Light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8F398273-E570-FD0C-5679-CE05DCAEEED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dirty="0">
                <a:latin typeface="Work Sans Light" pitchFamily="2" charset="77"/>
              </a:rPr>
              <a:t>Logo Empresa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F636D40-6663-725B-8E0D-34BDB07692AF}"/>
              </a:ext>
            </a:extLst>
          </p:cNvPr>
          <p:cNvSpPr txBox="1"/>
          <p:nvPr/>
        </p:nvSpPr>
        <p:spPr>
          <a:xfrm>
            <a:off x="372353" y="1667521"/>
            <a:ext cx="1144729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Work Sans Light" pitchFamily="2" charset="77"/>
              </a:rPr>
              <a:t>“Si se requiere esta diapositiva, de lo contrario eliminarla”</a:t>
            </a:r>
          </a:p>
        </p:txBody>
      </p:sp>
    </p:spTree>
    <p:extLst>
      <p:ext uri="{BB962C8B-B14F-4D97-AF65-F5344CB8AC3E}">
        <p14:creationId xmlns:p14="http://schemas.microsoft.com/office/powerpoint/2010/main" val="2608311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C1D880-FC17-3789-2435-5FF7492EAB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236" y="110481"/>
            <a:ext cx="10515600" cy="1325563"/>
          </a:xfrm>
        </p:spPr>
        <p:txBody>
          <a:bodyPr>
            <a:normAutofit/>
          </a:bodyPr>
          <a:lstStyle/>
          <a:p>
            <a:r>
              <a:rPr lang="es-ES" sz="3200" dirty="0">
                <a:solidFill>
                  <a:schemeClr val="bg1"/>
                </a:solidFill>
                <a:latin typeface="Work Sans Medium" pitchFamily="2" charset="77"/>
              </a:rPr>
              <a:t>Entregables Proyecto Formativo</a:t>
            </a:r>
            <a:br>
              <a:rPr lang="es-ES" sz="3200" dirty="0">
                <a:solidFill>
                  <a:schemeClr val="bg1"/>
                </a:solidFill>
                <a:latin typeface="Work Sans Medium" pitchFamily="2" charset="77"/>
              </a:rPr>
            </a:br>
            <a:r>
              <a:rPr lang="es-ES" sz="3200" dirty="0">
                <a:solidFill>
                  <a:schemeClr val="bg1"/>
                </a:solidFill>
                <a:latin typeface="Work Sans Medium" pitchFamily="2" charset="77"/>
              </a:rPr>
              <a:t>por Trimestre</a:t>
            </a:r>
            <a:endParaRPr lang="es-CO" sz="3200" dirty="0">
              <a:solidFill>
                <a:schemeClr val="bg1"/>
              </a:solidFill>
              <a:latin typeface="Work Sans Medium" pitchFamily="2" charset="77"/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987FD05-8B8A-E978-366F-97DF799DBA37}"/>
              </a:ext>
            </a:extLst>
          </p:cNvPr>
          <p:cNvSpPr txBox="1">
            <a:spLocks/>
          </p:cNvSpPr>
          <p:nvPr/>
        </p:nvSpPr>
        <p:spPr>
          <a:xfrm>
            <a:off x="8694348" y="508463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Sistema</a:t>
            </a:r>
            <a:endParaRPr lang="es-CO" sz="1600" b="1" dirty="0">
              <a:solidFill>
                <a:schemeClr val="bg1"/>
              </a:solidFill>
              <a:latin typeface="Work Sans Light" pitchFamily="2" charset="77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EC5FDC4-9A2A-F31D-6455-7D47B1B835F3}"/>
              </a:ext>
            </a:extLst>
          </p:cNvPr>
          <p:cNvSpPr txBox="1">
            <a:spLocks/>
          </p:cNvSpPr>
          <p:nvPr/>
        </p:nvSpPr>
        <p:spPr>
          <a:xfrm>
            <a:off x="9775121" y="510142"/>
            <a:ext cx="1080000" cy="540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 rtlCol="0" anchor="ctr" anchorCtr="0">
            <a:noAutofit/>
          </a:bodyPr>
          <a:lstStyle/>
          <a:p>
            <a:pPr algn="ctr"/>
            <a:r>
              <a:rPr lang="es-ES" sz="1600" b="1" dirty="0">
                <a:solidFill>
                  <a:schemeClr val="bg1"/>
                </a:solidFill>
                <a:latin typeface="Work Sans Light" pitchFamily="2" charset="77"/>
              </a:rPr>
              <a:t>Logo Empresa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1E176E7-6E48-7043-4A78-359C9D31D057}"/>
              </a:ext>
            </a:extLst>
          </p:cNvPr>
          <p:cNvSpPr txBox="1"/>
          <p:nvPr/>
        </p:nvSpPr>
        <p:spPr>
          <a:xfrm>
            <a:off x="1366063" y="1881018"/>
            <a:ext cx="38543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Plan de Proyecto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Levantamiento de Información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Diagrama de Procesos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IEEE-830 o Historias de Usuario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Diagrama Casos de Uso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Casos de Uso Extendido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Diagrama de Clases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Prototipo No Funcional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ES" sz="1400" dirty="0">
                <a:latin typeface="Work Sans Light" pitchFamily="2" charset="77"/>
              </a:rPr>
              <a:t>Patrón de Diseño</a:t>
            </a:r>
          </a:p>
        </p:txBody>
      </p:sp>
      <p:grpSp>
        <p:nvGrpSpPr>
          <p:cNvPr id="12" name="Grupo 11">
            <a:extLst>
              <a:ext uri="{FF2B5EF4-FFF2-40B4-BE49-F238E27FC236}">
                <a16:creationId xmlns:a16="http://schemas.microsoft.com/office/drawing/2014/main" id="{1CFE1397-E268-A3A6-3EA4-AB17D743D504}"/>
              </a:ext>
            </a:extLst>
          </p:cNvPr>
          <p:cNvGrpSpPr/>
          <p:nvPr/>
        </p:nvGrpSpPr>
        <p:grpSpPr>
          <a:xfrm>
            <a:off x="1111717" y="1494678"/>
            <a:ext cx="3239167" cy="347863"/>
            <a:chOff x="668953" y="1494678"/>
            <a:chExt cx="3239167" cy="347863"/>
          </a:xfrm>
        </p:grpSpPr>
        <p:sp>
          <p:nvSpPr>
            <p:cNvPr id="3" name="Rectángulo 2">
              <a:extLst>
                <a:ext uri="{FF2B5EF4-FFF2-40B4-BE49-F238E27FC236}">
                  <a16:creationId xmlns:a16="http://schemas.microsoft.com/office/drawing/2014/main" id="{5F88D1D8-4E77-172A-4075-4BC0AE7244E2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8" name="Título 1">
              <a:extLst>
                <a:ext uri="{FF2B5EF4-FFF2-40B4-BE49-F238E27FC236}">
                  <a16:creationId xmlns:a16="http://schemas.microsoft.com/office/drawing/2014/main" id="{16C39CA5-CC93-B536-2382-65125837F350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Primer Trimestre</a:t>
              </a:r>
            </a:p>
          </p:txBody>
        </p:sp>
      </p:grp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A55306B-6A90-067D-7E3E-9A883AF81519}"/>
              </a:ext>
            </a:extLst>
          </p:cNvPr>
          <p:cNvSpPr txBox="1"/>
          <p:nvPr/>
        </p:nvSpPr>
        <p:spPr>
          <a:xfrm>
            <a:off x="1366063" y="4602498"/>
            <a:ext cx="38543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Modelo Entidad Relación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Modelo Relacional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Diccionario de Datos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Script de la BBDD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Sentencias DDL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Consultas DML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Automatización de la BBDD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Sistema de Información Web – Servidor Local</a:t>
            </a:r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4BDEE201-EAE8-3EF0-7D52-A839443BF995}"/>
              </a:ext>
            </a:extLst>
          </p:cNvPr>
          <p:cNvGrpSpPr/>
          <p:nvPr/>
        </p:nvGrpSpPr>
        <p:grpSpPr>
          <a:xfrm>
            <a:off x="1060822" y="4230357"/>
            <a:ext cx="3239167" cy="347863"/>
            <a:chOff x="668953" y="1494678"/>
            <a:chExt cx="3239167" cy="347863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60E7E3DC-F54F-16EE-6193-F3B84790E597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6" name="Título 1">
              <a:extLst>
                <a:ext uri="{FF2B5EF4-FFF2-40B4-BE49-F238E27FC236}">
                  <a16:creationId xmlns:a16="http://schemas.microsoft.com/office/drawing/2014/main" id="{E680F7F2-FBF8-50E2-5177-540E4EFE02CB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Segundo Trimestre</a:t>
              </a:r>
            </a:p>
          </p:txBody>
        </p:sp>
      </p:grpSp>
      <p:grpSp>
        <p:nvGrpSpPr>
          <p:cNvPr id="9" name="Grupo 8">
            <a:extLst>
              <a:ext uri="{FF2B5EF4-FFF2-40B4-BE49-F238E27FC236}">
                <a16:creationId xmlns:a16="http://schemas.microsoft.com/office/drawing/2014/main" id="{A3825B01-EA75-13DA-930E-0E7065456FC4}"/>
              </a:ext>
            </a:extLst>
          </p:cNvPr>
          <p:cNvGrpSpPr/>
          <p:nvPr/>
        </p:nvGrpSpPr>
        <p:grpSpPr>
          <a:xfrm>
            <a:off x="4902545" y="2675450"/>
            <a:ext cx="3239167" cy="347863"/>
            <a:chOff x="668953" y="1494678"/>
            <a:chExt cx="3239167" cy="347863"/>
          </a:xfrm>
        </p:grpSpPr>
        <p:sp>
          <p:nvSpPr>
            <p:cNvPr id="10" name="Rectángulo 9">
              <a:extLst>
                <a:ext uri="{FF2B5EF4-FFF2-40B4-BE49-F238E27FC236}">
                  <a16:creationId xmlns:a16="http://schemas.microsoft.com/office/drawing/2014/main" id="{1F95563B-F1FA-3F38-9469-C187B76F2652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11" name="Título 1">
              <a:extLst>
                <a:ext uri="{FF2B5EF4-FFF2-40B4-BE49-F238E27FC236}">
                  <a16:creationId xmlns:a16="http://schemas.microsoft.com/office/drawing/2014/main" id="{5D4107EC-62A9-0CBC-9BAA-31894991FBDA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Tercer Trimestre</a:t>
              </a:r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BECBF41-5245-C57F-50B5-C5EEB7FC3623}"/>
              </a:ext>
            </a:extLst>
          </p:cNvPr>
          <p:cNvSpPr txBox="1"/>
          <p:nvPr/>
        </p:nvSpPr>
        <p:spPr>
          <a:xfrm>
            <a:off x="5138058" y="3116381"/>
            <a:ext cx="3854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Planeación de Pruebas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Ejecución de Pruebas</a:t>
            </a:r>
          </a:p>
        </p:txBody>
      </p:sp>
      <p:grpSp>
        <p:nvGrpSpPr>
          <p:cNvPr id="18" name="Grupo 17">
            <a:extLst>
              <a:ext uri="{FF2B5EF4-FFF2-40B4-BE49-F238E27FC236}">
                <a16:creationId xmlns:a16="http://schemas.microsoft.com/office/drawing/2014/main" id="{FCE1BD1E-1D51-E6AF-F105-4076FC2D57D5}"/>
              </a:ext>
            </a:extLst>
          </p:cNvPr>
          <p:cNvGrpSpPr/>
          <p:nvPr/>
        </p:nvGrpSpPr>
        <p:grpSpPr>
          <a:xfrm>
            <a:off x="4909555" y="4722219"/>
            <a:ext cx="3239167" cy="347863"/>
            <a:chOff x="668953" y="1494678"/>
            <a:chExt cx="3239167" cy="347863"/>
          </a:xfrm>
        </p:grpSpPr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D3E0EBBB-9147-55CA-2418-498278054CFC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0" name="Título 1">
              <a:extLst>
                <a:ext uri="{FF2B5EF4-FFF2-40B4-BE49-F238E27FC236}">
                  <a16:creationId xmlns:a16="http://schemas.microsoft.com/office/drawing/2014/main" id="{D72BC5B6-99EB-82E2-EF05-9C929BA4026B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Cuarto Trimestre</a:t>
              </a:r>
            </a:p>
          </p:txBody>
        </p:sp>
      </p:grpSp>
      <p:sp>
        <p:nvSpPr>
          <p:cNvPr id="21" name="CuadroTexto 20">
            <a:extLst>
              <a:ext uri="{FF2B5EF4-FFF2-40B4-BE49-F238E27FC236}">
                <a16:creationId xmlns:a16="http://schemas.microsoft.com/office/drawing/2014/main" id="{FB827742-8BEF-4F91-027F-86DDB60084FD}"/>
              </a:ext>
            </a:extLst>
          </p:cNvPr>
          <p:cNvSpPr txBox="1"/>
          <p:nvPr/>
        </p:nvSpPr>
        <p:spPr>
          <a:xfrm>
            <a:off x="5138058" y="5219739"/>
            <a:ext cx="385436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Manual de Instalación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Configuración del Servidor de Aplicaciones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Configuración del Servidor de BBDD</a:t>
            </a:r>
          </a:p>
        </p:txBody>
      </p:sp>
      <p:grpSp>
        <p:nvGrpSpPr>
          <p:cNvPr id="22" name="Grupo 21">
            <a:extLst>
              <a:ext uri="{FF2B5EF4-FFF2-40B4-BE49-F238E27FC236}">
                <a16:creationId xmlns:a16="http://schemas.microsoft.com/office/drawing/2014/main" id="{648580DD-9095-EA4C-4032-6CDC04F6E419}"/>
              </a:ext>
            </a:extLst>
          </p:cNvPr>
          <p:cNvGrpSpPr/>
          <p:nvPr/>
        </p:nvGrpSpPr>
        <p:grpSpPr>
          <a:xfrm>
            <a:off x="8350341" y="3568215"/>
            <a:ext cx="3239167" cy="347863"/>
            <a:chOff x="668953" y="1494678"/>
            <a:chExt cx="3239167" cy="347863"/>
          </a:xfrm>
        </p:grpSpPr>
        <p:sp>
          <p:nvSpPr>
            <p:cNvPr id="23" name="Rectángulo 22">
              <a:extLst>
                <a:ext uri="{FF2B5EF4-FFF2-40B4-BE49-F238E27FC236}">
                  <a16:creationId xmlns:a16="http://schemas.microsoft.com/office/drawing/2014/main" id="{13A95A63-0013-4AF3-D361-E97A2D8BAA5A}"/>
                </a:ext>
              </a:extLst>
            </p:cNvPr>
            <p:cNvSpPr/>
            <p:nvPr/>
          </p:nvSpPr>
          <p:spPr>
            <a:xfrm>
              <a:off x="781688" y="1796822"/>
              <a:ext cx="971956" cy="4571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O"/>
            </a:p>
          </p:txBody>
        </p:sp>
        <p:sp>
          <p:nvSpPr>
            <p:cNvPr id="24" name="Título 1">
              <a:extLst>
                <a:ext uri="{FF2B5EF4-FFF2-40B4-BE49-F238E27FC236}">
                  <a16:creationId xmlns:a16="http://schemas.microsoft.com/office/drawing/2014/main" id="{AF8ED4B5-B0F0-DA61-CE59-7D3164807EBC}"/>
                </a:ext>
              </a:extLst>
            </p:cNvPr>
            <p:cNvSpPr txBox="1">
              <a:spLocks/>
            </p:cNvSpPr>
            <p:nvPr/>
          </p:nvSpPr>
          <p:spPr>
            <a:xfrm>
              <a:off x="668953" y="1494678"/>
              <a:ext cx="3239167" cy="294592"/>
            </a:xfrm>
            <a:prstGeom prst="rect">
              <a:avLst/>
            </a:prstGeom>
          </p:spPr>
          <p:txBody>
            <a:bodyPr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s-CO" sz="1800" b="1" dirty="0">
                  <a:solidFill>
                    <a:srgbClr val="38AA00"/>
                  </a:solidFill>
                  <a:latin typeface="Work Sans Light" pitchFamily="2" charset="77"/>
                </a:rPr>
                <a:t>Quinto Trimestre</a:t>
              </a:r>
            </a:p>
          </p:txBody>
        </p:sp>
      </p:grpSp>
      <p:sp>
        <p:nvSpPr>
          <p:cNvPr id="25" name="CuadroTexto 24">
            <a:extLst>
              <a:ext uri="{FF2B5EF4-FFF2-40B4-BE49-F238E27FC236}">
                <a16:creationId xmlns:a16="http://schemas.microsoft.com/office/drawing/2014/main" id="{ECCF2336-24C1-7B7D-C6B6-ECB6A1DAFDEA}"/>
              </a:ext>
            </a:extLst>
          </p:cNvPr>
          <p:cNvSpPr txBox="1"/>
          <p:nvPr/>
        </p:nvSpPr>
        <p:spPr>
          <a:xfrm>
            <a:off x="8578844" y="4065735"/>
            <a:ext cx="275009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Manual de Usuario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400" dirty="0">
                <a:latin typeface="Work Sans Light" pitchFamily="2" charset="77"/>
              </a:rPr>
              <a:t>Sistema de Información </a:t>
            </a:r>
            <a:r>
              <a:rPr lang="es-MX" sz="1400">
                <a:latin typeface="Work Sans Light" pitchFamily="2" charset="77"/>
              </a:rPr>
              <a:t>Web – Servidor </a:t>
            </a:r>
            <a:r>
              <a:rPr lang="es-MX" sz="1400" dirty="0">
                <a:latin typeface="Work Sans Light" pitchFamily="2" charset="77"/>
              </a:rPr>
              <a:t>Externo</a:t>
            </a:r>
          </a:p>
        </p:txBody>
      </p:sp>
    </p:spTree>
    <p:extLst>
      <p:ext uri="{BB962C8B-B14F-4D97-AF65-F5344CB8AC3E}">
        <p14:creationId xmlns:p14="http://schemas.microsoft.com/office/powerpoint/2010/main" val="2843109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A01EB75E-8874-42DD-11A3-2D5CA1D23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62203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3533</TotalTime>
  <Words>943</Words>
  <Application>Microsoft Office PowerPoint</Application>
  <PresentationFormat>Panorámica</PresentationFormat>
  <Paragraphs>132</Paragraphs>
  <Slides>15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2" baseType="lpstr">
      <vt:lpstr>Arial</vt:lpstr>
      <vt:lpstr>Calibri</vt:lpstr>
      <vt:lpstr>Calibri Light</vt:lpstr>
      <vt:lpstr>Work Sans</vt:lpstr>
      <vt:lpstr>Work Sans Light</vt:lpstr>
      <vt:lpstr>Work Sans Medium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Problema</vt:lpstr>
      <vt:lpstr>Presentación de PowerPoint</vt:lpstr>
      <vt:lpstr>Presentación de PowerPoint</vt:lpstr>
      <vt:lpstr>Justificación</vt:lpstr>
      <vt:lpstr>Presentación de PowerPoint</vt:lpstr>
      <vt:lpstr>Alcance</vt:lpstr>
      <vt:lpstr>Presentación de PowerPoint</vt:lpstr>
      <vt:lpstr>Delimitación</vt:lpstr>
      <vt:lpstr>Presentación de PowerPoint</vt:lpstr>
      <vt:lpstr>Entregables Proyecto Formativo por Trimestre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USUARIO</cp:lastModifiedBy>
  <cp:revision>75</cp:revision>
  <dcterms:created xsi:type="dcterms:W3CDTF">2020-10-01T23:51:28Z</dcterms:created>
  <dcterms:modified xsi:type="dcterms:W3CDTF">2026-10-19T01:32:10Z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